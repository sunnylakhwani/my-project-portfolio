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5446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320040"/>
            <a:ext cx="201168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PLAN 2025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IlmBridge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Without Limits — Pakistan's AI-Powered EdTech Platform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4572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774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FDE6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"Parho. Seekho. Aage Badho."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2880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 Grow. Succeed.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457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Overview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9601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52360" y="9601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Jun 2025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14356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52360" y="14356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15 Million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191109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52360" y="191109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New Users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238658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52360" y="238658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Digital Platforms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286207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52360" y="286207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+ Conversions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Purpose</a:t>
            </a:r>
            <a:r>
              <a:rPr lang="en-US" sz="7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IlmBridge Technologies Pvt. Ltd</a:t>
            </a:r>
            <a:r>
              <a:rPr lang="en-US" sz="7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| </a:t>
            </a:r>
            <a:r>
              <a:rPr lang="en-US" sz="70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Lakhwani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Objectives &amp; KPIs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011680" cy="109728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👁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730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50M+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2240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Impressions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6334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channels combined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20116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960120"/>
            <a:ext cx="201168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143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👆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68880" y="1737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68880" y="2240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Clicks / Visits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26334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CTR target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20116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960120"/>
            <a:ext cx="201168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143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📲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63440" y="1737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200K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63440" y="2240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Installs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26334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+ iOS combined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58000" y="960120"/>
            <a:ext cx="20116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0" y="960120"/>
            <a:ext cx="201168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1143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💳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58000" y="1737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12,000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858000" y="2240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Subscriptions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26334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free-to-paid conversion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3794760"/>
            <a:ext cx="8595360" cy="107899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SMART Objective: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11480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50M+ impressions, 200,000 app installs, and 12,000 paid subscriptions within 6 months (Jan–Jun 2025) at a blended CAC below PKR 520, achieving positive ROAS of 3.2× on a PKR 15M campaign budget.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Audience Segmentation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01168" y="868680"/>
            <a:ext cx="2084832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868680"/>
            <a:ext cx="2084832" cy="34747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86868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audience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123444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01168" y="178308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(Matric/Inter)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" y="219456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14–20 yrs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8328" y="2487168"/>
            <a:ext cx="181051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254203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01168" y="2724912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private tutoring, weak Urdu-medium digital content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1168" y="324612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01168" y="342900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"Apne budget mein best tutor"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1168" y="3858768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TikTok, YouTube, School WA Groups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414016" y="868680"/>
            <a:ext cx="2084832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14016" y="868680"/>
            <a:ext cx="208483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14016" y="86868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of audience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414016" y="123444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414016" y="178308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Professionals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14016" y="219456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22–32 yrs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51176" y="2487168"/>
            <a:ext cx="181051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14016" y="254203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414016" y="2724912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lacks recognised certifications for IT/corporate roles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414016" y="324612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414016" y="342900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"Certificate jo employers accept karein"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414016" y="3858768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LinkedIn, Google Ads, Instagram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626864" y="868680"/>
            <a:ext cx="2084832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26864" y="868680"/>
            <a:ext cx="2084832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6864" y="86868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audience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26864" y="123444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👨‍👩‍👧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626864" y="178308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of Students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26864" y="219456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30–45 yrs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64024" y="2487168"/>
            <a:ext cx="181051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26864" y="254203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626864" y="2724912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academy fees, safety concern with in-person tuition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26864" y="324612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626864" y="342900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"Ghar baithe safe aur affordable taleem"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26864" y="3858768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Facebook, WhatsApp, YouTube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39712" y="868680"/>
            <a:ext cx="2084832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39712" y="868680"/>
            <a:ext cx="208483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39712" y="86868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of audience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39712" y="123444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6839712" y="178308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HR/L&amp;D Heads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39712" y="219456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35–50 yrs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976872" y="2487168"/>
            <a:ext cx="181051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39712" y="254203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839712" y="2724912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upskilling costs &amp; scheduling logistics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39712" y="324612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839712" y="342900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"Apni team ko 3× faster train karein"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39712" y="3858768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LinkedIn, Email, Direct Sales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Media Content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Pillars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93192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73152" cy="566928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88720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122529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Lesson Clips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96112" y="146304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60-90 sec YouTube Shorts &amp; TikTok — hook with a solved exam Q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0" y="1188720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730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1847088"/>
            <a:ext cx="393192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4708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847088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6112" y="188366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Success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96112" y="212140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stories; scholarship winners; marks improvement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0" y="1847088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2505456"/>
            <a:ext cx="393192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05456"/>
            <a:ext cx="73152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505456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6112" y="25420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Topics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96112" y="277977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exam tips, career guides, tech news in simple Urdu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74720" y="2505456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3163824"/>
            <a:ext cx="393192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163824"/>
            <a:ext cx="73152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163824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🎁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96112" y="32004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&amp; Contests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96112" y="343814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month giveaways, referral challenges, live Q&amp;A sessions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74720" y="3163824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" y="3822192"/>
            <a:ext cx="393192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822192"/>
            <a:ext cx="73152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822192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📢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96112" y="38587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Storytelling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96112" y="409651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story, teacher profiles, mission &amp; impact videos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74720" y="3822192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0" y="8686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Posting Schedule</a:t>
            </a:r>
            <a:endParaRPr lang="en-US" sz="11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88720"/>
          <a:ext cx="4206240" cy="332841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Posts/Week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7–9 PM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Shorts + Long-form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8–10 PM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Shorts (&lt;90s)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 PM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Reels + Stories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12–2 PM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+ Groups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9–11 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Articles + Posts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3/week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7–8 PM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Broadcast Lists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4572000" y="1188720"/>
            <a:ext cx="429768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72000" y="11887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943600" y="118872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Posts/Week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720840" y="118872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Time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498080" y="11887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Paid Advertising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896112"/>
            <a:ext cx="868680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96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057400" y="8961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Type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11880" y="8961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26280" y="89611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212080" y="89611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897880" y="896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Goal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1261872"/>
            <a:ext cx="8686800" cy="512064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261872"/>
            <a:ext cx="54864" cy="51206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" y="133502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Ads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12264" y="133502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Skippable In-Stream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66744" y="133502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3.5M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81144" y="1335024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8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266944" y="1335024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52744" y="13350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Install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1828800"/>
            <a:ext cx="86868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1828800"/>
            <a:ext cx="54864" cy="512064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" y="190195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Facebook/IG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12264" y="19019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+ Lead Gen Ads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66744" y="190195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3.0M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81144" y="190195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12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266944" y="190195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52744" y="19019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 Signup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2395728"/>
            <a:ext cx="8686800" cy="512064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395728"/>
            <a:ext cx="54864" cy="512064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464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12264" y="2468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(Urdu + Eng)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66744" y="24688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2.5M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81144" y="246888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66944" y="246888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52744" y="2468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Download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" y="2962656"/>
            <a:ext cx="86868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" y="2962656"/>
            <a:ext cx="54864" cy="5120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" y="30358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Ads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112264" y="30358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TopView + Branded Effect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66744" y="303580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2.0M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81144" y="3035808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6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266944" y="3035808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952744" y="30358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Install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600" y="3529584"/>
            <a:ext cx="8686800" cy="512064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" y="3529584"/>
            <a:ext cx="54864" cy="512064"/>
          </a:xfrm>
          <a:prstGeom prst="rect">
            <a:avLst/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3464" y="360273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Ads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112264" y="360273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Content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666744" y="360273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2.0M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581144" y="3602736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45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266944" y="3602736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952744" y="360273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Demo Request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28600" y="4096512"/>
            <a:ext cx="86868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8600" y="4096512"/>
            <a:ext cx="54864" cy="5120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3464" y="416966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112264" y="41696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Retargeting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666744" y="416966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2.0M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581144" y="4169664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5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266944" y="4169664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9M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952744" y="416966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Dropoffs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28600" y="4681728"/>
            <a:ext cx="8686800" cy="292608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468172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Paid Media Budget: PKR 15,000,000  |  Est. Total Reach: 63M+  |  Blended Target CPC: PKR 12  |  ROAS Target: 3.2×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Breakdown — PKR 15 Million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98755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Ads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606040" y="1078992"/>
            <a:ext cx="324612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1078992"/>
            <a:ext cx="3200400" cy="29260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97880" y="98755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3.5M  (23.3%)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58191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&amp; Instagram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673352"/>
            <a:ext cx="324612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673352"/>
            <a:ext cx="2743200" cy="292608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15819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3.0M  (20%)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217627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&amp; GDN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06040" y="2267712"/>
            <a:ext cx="324612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2267712"/>
            <a:ext cx="2286000" cy="2926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21762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2.5M  (16.7%)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277063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Ads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06040" y="2862072"/>
            <a:ext cx="324612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06040" y="2862072"/>
            <a:ext cx="1828800" cy="2926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27706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2.0M  (13.3%)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336499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06040" y="3456432"/>
            <a:ext cx="324612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06040" y="3456432"/>
            <a:ext cx="1828800" cy="292608"/>
          </a:xfrm>
          <a:prstGeom prst="rect">
            <a:avLst/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336499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2.0M  (13.3%)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395935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/ DSP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06040" y="4050792"/>
            <a:ext cx="324612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06040" y="4050792"/>
            <a:ext cx="1828800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395935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2.0M  (13.3%)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955280" y="914400"/>
            <a:ext cx="9601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55280" y="914400"/>
            <a:ext cx="960120" cy="292608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9144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Targets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973568" y="12618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973568" y="14996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3.2×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73568" y="20391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73568" y="227685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PKR 1,250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973568" y="28163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973568" y="305409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4.2×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973568" y="35935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973568" y="383133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mo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4663440"/>
            <a:ext cx="8641080" cy="27432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 prioritises top-of-funnel awareness (YouTube, TikTok) with a strong mid-funnel retargeting layer to convert high-intent visitors at minimal incremental cost.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Influencer &amp; Content Creator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8412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1234440" cy="841248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8755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MEGA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" y="1371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⭐⭐⭐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9601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followers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26080" y="9601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0" y="9601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1.0M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54480" y="12801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launch campaign, awareness spikes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1892808"/>
            <a:ext cx="8686800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1892808"/>
            <a:ext cx="1234440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9659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8600" y="235000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⭐⭐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19385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100K–1M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26080" y="193852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8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0" y="19385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1.5M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54480" y="225856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Subject-specific lesson previews, 30-day challenges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871216"/>
            <a:ext cx="8686800" cy="8412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871216"/>
            <a:ext cx="1234440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94436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28600" y="332841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54480" y="29169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10K–100K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26080" y="291693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30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0" y="29169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1.0M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54480" y="3236976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subjects, regional languages, high engagement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3849624"/>
            <a:ext cx="8686800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849624"/>
            <a:ext cx="1234440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392277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28600" y="430682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🌟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554480" y="389534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&lt;10K (Teachers)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926080" y="389534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80+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114800" y="389534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554480" y="4215384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local reach; teach on platform for revenue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4828032"/>
            <a:ext cx="8686800" cy="137160"/>
          </a:xfrm>
          <a:prstGeom prst="rect">
            <a:avLst/>
          </a:prstGeom>
          <a:solidFill>
            <a:srgbClr val="CCFBF1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828032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influencers sign 90-day exclusivity clauses; performance bonuses tied to tracked app installs via UTM codes.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Timeline — Jan to Jun 2025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1371600" cy="347472"/>
          </a:xfrm>
          <a:prstGeom prst="rect">
            <a:avLst/>
          </a:prstGeom>
          <a:solidFill>
            <a:srgbClr val="3730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914400"/>
            <a:ext cx="1371600" cy="347472"/>
          </a:xfrm>
          <a:prstGeom prst="rect">
            <a:avLst/>
          </a:prstGeom>
          <a:solidFill>
            <a:srgbClr val="3730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914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914400"/>
            <a:ext cx="13716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914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914400"/>
            <a:ext cx="13716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914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97880" y="914400"/>
            <a:ext cx="1371600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914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914400"/>
            <a:ext cx="1371600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914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0" y="13716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28600" y="1408176"/>
            <a:ext cx="137160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" y="1408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Launch &amp; PR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0" y="1709928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YouTube Ads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28600" y="1746504"/>
            <a:ext cx="8458200" cy="256032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" y="1746504"/>
            <a:ext cx="8366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Ads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2048256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TikTok Content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28600" y="2084832"/>
            <a:ext cx="84582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" y="2084832"/>
            <a:ext cx="8366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Content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0" y="2386584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Influencer Wave 1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228600" y="2423160"/>
            <a:ext cx="27889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24231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Wave 1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2724912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School Partnership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645920" y="2761488"/>
            <a:ext cx="420624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00784" y="2761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Partnership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0" y="306324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Google Search Ads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645920" y="3099816"/>
            <a:ext cx="7040880" cy="25603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00784" y="309981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Ads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3401568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Facebook/IG Retarget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3063240" y="3438144"/>
            <a:ext cx="5623560" cy="256032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18104" y="3438144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Facebook/IG Retarget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0" y="3739896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Influencer Wave 2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480560" y="3776472"/>
            <a:ext cx="278892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35424" y="37764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Wave 2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0" y="4078224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B2B LinkedIn Campaign</a:t>
            </a: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3063240" y="4114800"/>
            <a:ext cx="5623560" cy="256032"/>
          </a:xfrm>
          <a:prstGeom prst="rect">
            <a:avLst/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18104" y="4114800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LinkedIn Campaign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0" y="4416552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Mid-Campaign Review</a:t>
            </a: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3063240" y="4453128"/>
            <a:ext cx="137160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18104" y="4453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Mid-Campaign Review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0" y="475488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Certificate Launch</a:t>
            </a: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5897880" y="4791456"/>
            <a:ext cx="2788920" cy="25603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52744" y="479145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Launch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28600" y="4800600"/>
            <a:ext cx="8686800" cy="182880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80060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LAUNCH (Jan–Feb)   |   Phase 2: GROWTH (Mar–Apr)   |   Phase 3: SCALE &amp; RETAIN (May–Jun)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Outcomes &amp; Success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85800" y="960120"/>
            <a:ext cx="7772400" cy="64008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960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514600" y="9601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50M+ Impressions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15000" y="960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recall target: 18%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371600" y="1728216"/>
            <a:ext cx="64008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1728216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0" y="172821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2.5M Clicks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728216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CTR: 5% blended across channels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057400" y="2496312"/>
            <a:ext cx="502920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67128" y="249631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86200" y="249631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800K App Installs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43400" y="249631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target: PKR 75 per install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651760" y="3264408"/>
            <a:ext cx="384048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61488" y="32644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80560" y="3264408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200K Registered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326440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Registration-to-install: 25%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00400" y="4032504"/>
            <a:ext cx="274320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403250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0" y="4032504"/>
            <a:ext cx="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12,000 Paid Subs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4032504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rate: 6%; MRR: PKR 12M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4B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Summary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PKR 15M budget across 6 paid channels targeting 63M+ reach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2350008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Urdu-first content strategy across YouTube, TikTok, Facebook &amp; Instagram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2825496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Tiered influencer programme: 2 mega + 8 macro + 30 micro + 80 nano creators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3300984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AI-personalised onboarding to drive free→paid conversion above 6%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3776472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Mid-campaign optimisation review at Month 3 with dynamic budget reallocation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35040" y="914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DE6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Launch?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150876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Approve budget by Dec 15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35040" y="198424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Finalise influencer contracts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0" y="245973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 app store listings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293522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Set up analytics tracking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35040" y="341071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Brief creative production team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3977640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3977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Begin Campaign — Jan 2025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www.ilmbridge.pk  |  marketing@ilmbridge.pk  |  +92-42-ILMBRIDGE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1037</Words>
  <Application>Microsoft Office PowerPoint</Application>
  <PresentationFormat>On-screen Show (16:9)</PresentationFormat>
  <Paragraphs>299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IlmBridge Digital Marketing Campaign 2025</dc:title>
  <dc:subject>PptxGenJS Presentation</dc:subject>
  <dc:creator>Marketing Strategy Division</dc:creator>
  <cp:lastModifiedBy>HP</cp:lastModifiedBy>
  <cp:revision>2</cp:revision>
  <dcterms:created xsi:type="dcterms:W3CDTF">2026-05-04T08:37:05Z</dcterms:created>
  <dcterms:modified xsi:type="dcterms:W3CDTF">2026-05-04T08:57:31Z</dcterms:modified>
</cp:coreProperties>
</file>