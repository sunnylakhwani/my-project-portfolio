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9DC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9DC3"/>
                </a:solidFill>
                <a:latin typeface="Arial"/>
              </a:rPr>
              <a:t>Annual Revenue 2019–2023 (USD Billion)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 Billion)</c:v>
                </c:pt>
              </c:strCache>
            </c:strRef>
          </c:tx>
          <c:spPr>
            <a:solidFill>
              <a:srgbClr val="7B2FB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0.06</c:v>
                </c:pt>
                <c:pt idx="1">
                  <c:v>0.8</c:v>
                </c:pt>
                <c:pt idx="2">
                  <c:v>18.5</c:v>
                </c:pt>
                <c:pt idx="3">
                  <c:v>19.3</c:v>
                </c:pt>
                <c:pt idx="4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1-4D8C-9F84-D03B37CD8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349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64008" cy="2377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MEDICAL BIOTECHNOLOGY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Moderna Inc.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Revolutionizing Medicine Through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Technology &amp; Immunology Innovation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840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Lakhwani</a:t>
            </a:r>
            <a:r>
              <a:rPr lang="en-US" sz="1100" dirty="0" smtClean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Biotechnology  </a:t>
            </a: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Task 2 – Company Case Study  </a:t>
            </a:r>
            <a:r>
              <a:rPr lang="en-US" sz="11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0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11840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731520"/>
            <a:ext cx="3200400" cy="32004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Moderna's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biotechnology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502920"/>
            <a:ext cx="411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5029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5303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&amp; Background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124712"/>
            <a:ext cx="411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1247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15214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mRNA Technology Platform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1746504"/>
            <a:ext cx="411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746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7739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Products &amp; Innovations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08960" y="2368296"/>
            <a:ext cx="411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3682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3957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Impact &amp; Financials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2990088"/>
            <a:ext cx="411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990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0175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Risks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08960" y="3611880"/>
            <a:ext cx="411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6118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6393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4233672"/>
            <a:ext cx="4114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42336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2611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137160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Cambridge, 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20240" cy="137160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920240" cy="137160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$18.5B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2022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51560"/>
            <a:ext cx="1920240" cy="137160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0372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Moderna?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Moderna, Inc. is an American biotechnology company specializing in RNA therapeutics. Founded by Harvard and MIT researchers, Moderna pioneered the use of messenger RNA (mRNA) as a drug modality — treating the human body as the drug factory itself. The company's platform has applications in infectious diseases, oncology, cardiovascular disease, and rare genetic disorders.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 gained global recognition for developing one of the first authorized COVID-19 vaccines (mRNA-1273) at unprecedented speed, validating the mRNA platform's potential for rapid vaccine development.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mRNA Technology Platform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3474720"/>
          </a:xfrm>
          <a:prstGeom prst="rect">
            <a:avLst/>
          </a:prstGeom>
          <a:solidFill>
            <a:srgbClr val="1A2355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51560"/>
            <a:ext cx="822960" cy="8229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Design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mRNA sequences engineered to encode target proteins (antigens or therapeutic proteins)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04288" y="1719072"/>
            <a:ext cx="228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960120"/>
            <a:ext cx="1920240" cy="3474720"/>
          </a:xfrm>
          <a:prstGeom prst="rect">
            <a:avLst/>
          </a:prstGeom>
          <a:solidFill>
            <a:srgbClr val="1A2355"/>
          </a:solidFill>
          <a:ln w="1905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1051560"/>
            <a:ext cx="822960" cy="8229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33472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LNP Delivery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33472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nanoparticles (LNPs) encapsulate mRNA, protecting it and enabling efficient cellular uptake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0560" y="1719072"/>
            <a:ext cx="228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960120"/>
            <a:ext cx="1920240" cy="3474720"/>
          </a:xfrm>
          <a:prstGeom prst="rect">
            <a:avLst/>
          </a:prstGeom>
          <a:solidFill>
            <a:srgbClr val="1A2355"/>
          </a:solidFill>
          <a:ln w="1905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66944" y="1051560"/>
            <a:ext cx="822960" cy="8229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9744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Expression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09744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translate mRNA into target proteins — the body's ribosomes act as the manufacturing plant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56832" y="1719072"/>
            <a:ext cx="228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960120"/>
            <a:ext cx="1920240" cy="3474720"/>
          </a:xfrm>
          <a:prstGeom prst="rect">
            <a:avLst/>
          </a:prstGeom>
          <a:solidFill>
            <a:srgbClr val="1A2355"/>
          </a:solidFill>
          <a:ln w="1905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43216" y="1051560"/>
            <a:ext cx="822960" cy="8229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43216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6016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Response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86016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proteins trigger adaptive immunity — antibodies &amp; T-cells — without using live pathogens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Advantage: Unlike traditional vaccines, mRNA never enters the cell nucleus and cannot alter DNA — providing safety with unmatched development speed.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Products &amp; Innovations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783080"/>
          </a:xfrm>
          <a:prstGeom prst="rect">
            <a:avLst/>
          </a:prstGeom>
          <a:solidFill>
            <a:srgbClr val="1A2355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mRNA-1273 (Spikevax)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vaccine — 94.1% efficacy in trials. First mRNA vaccine ever authorized by FDA &amp; EMA. Delivered 800M+ doses globally.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783080"/>
          </a:xfrm>
          <a:prstGeom prst="rect">
            <a:avLst/>
          </a:prstGeom>
          <a:solidFill>
            <a:srgbClr val="1A2355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53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mRNA-1345 (mRESVIA)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 vaccine for adults 60+, approved by FDA in 2024. The first mRNA vaccine approved outside of COVID-19.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783080"/>
          </a:xfrm>
          <a:prstGeom prst="rect">
            <a:avLst/>
          </a:prstGeom>
          <a:solidFill>
            <a:srgbClr val="1A2355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1148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27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mRNA-4157 (V940)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cancer vaccine (melanoma) — custom-designed for each patient's tumor mutation profile. In partnership with Merck.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783080"/>
          </a:xfrm>
          <a:prstGeom prst="rect">
            <a:avLst/>
          </a:prstGeom>
          <a:solidFill>
            <a:srgbClr val="1A2355"/>
          </a:solidFill>
          <a:ln w="1905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411480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27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364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mRNA-3705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6850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 treatment for Propionic Acidemia — demonstrates mRNA's potential beyond infectious disease.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Impact &amp; Financials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834640" cy="868680"/>
          </a:xfrm>
          <a:prstGeom prst="rect">
            <a:avLst/>
          </a:prstGeom>
          <a:solidFill>
            <a:srgbClr val="1A2355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51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0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~$40B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89520" y="1417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2011680"/>
            <a:ext cx="2834640" cy="868680"/>
          </a:xfrm>
          <a:prstGeom prst="rect">
            <a:avLst/>
          </a:prstGeom>
          <a:solidFill>
            <a:srgbClr val="1A2355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 Sold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5040" y="2286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800M+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9520" y="2423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doses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017520"/>
            <a:ext cx="2834640" cy="868680"/>
          </a:xfrm>
          <a:prstGeom prst="rect">
            <a:avLst/>
          </a:prstGeom>
          <a:solidFill>
            <a:srgbClr val="1A2355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Spend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35040" y="32918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58952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(2023)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4023360"/>
            <a:ext cx="2834640" cy="868680"/>
          </a:xfrm>
          <a:prstGeom prst="rect">
            <a:avLst/>
          </a:prstGeom>
          <a:solidFill>
            <a:srgbClr val="1A2355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4297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589520" y="4434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revenues peaked in 2022 at $19.3B, then declined as pandemic subsidized demand normalized — demonstrating the importance of pipeline diversification.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of mRNA Technology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874520"/>
          </a:xfrm>
          <a:prstGeom prst="rect">
            <a:avLst/>
          </a:prstGeom>
          <a:solidFill>
            <a:srgbClr val="1A2355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8745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Disease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COVID-19, RSV, Influenza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vaccine candidates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Zika, Nipah preparedness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pandemic response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874520"/>
          </a:xfrm>
          <a:prstGeom prst="rect">
            <a:avLst/>
          </a:prstGeom>
          <a:solidFill>
            <a:srgbClr val="1A2355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64008" cy="18745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tumor vaccines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checkpoint boosters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cell therapy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Melanoma, NSCLC, colorectal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87452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64008" cy="1874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VEGF-A therapy (heart repair)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interventions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mRNA-0184 in clinical trials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replacement therapy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874520"/>
          </a:xfrm>
          <a:prstGeom prst="rect">
            <a:avLst/>
          </a:prstGeom>
          <a:solidFill>
            <a:srgbClr val="1A235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64008" cy="18745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enzyme disorders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Propionic acidemia therapy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Methylmalonic acidemia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 alternative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Risks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1A235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&amp; Storage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51560"/>
            <a:ext cx="96012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51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vaccines require ultra-cold storage (−20°C to −70°C), limiting distribution in low-resource settings. Ongoing research focuses on thermostable formulations.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1A235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051560"/>
            <a:ext cx="96012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051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3441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2021–22 revenue came from COVID-19 vaccines. Post-pandemic revenue drop (from $19.3B to $6.8B) exposed heavy dependency on a single product.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&amp; Competition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1051560"/>
            <a:ext cx="9601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051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13441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battles with NIH over mRNA patents, and growing competition from BioNTech/Pfizer, CureVac, and emerging Chinese mRNA players threaten market share.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Hurdles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377440"/>
            <a:ext cx="9601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377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6700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safety data for novel mRNA modalities is still accumulating. Regulatory pathways for personalized vaccines require new approval frameworks.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4114800" cy="1188720"/>
          </a:xfrm>
          <a:prstGeom prst="rect">
            <a:avLst/>
          </a:prstGeom>
          <a:solidFill>
            <a:srgbClr val="1A235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Perception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2377440"/>
            <a:ext cx="9601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77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6700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hesitancy and misinformation about mRNA technology altering DNA remain barriers to adoption, especially in developing countries.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1A2355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Scale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0" y="2377440"/>
            <a:ext cx="96012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377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6700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personalized cancer vaccines (unique per patient) requires highly specialized, expensive GMP manufacturing — a logistical and cost challenge.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657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Vaccine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Programs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Spikevax (✓)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mRNA-4157 + 4 others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BioNTech/Pfizer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Comirnaty (✓)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BNT111, BNT116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~$25B/~$160B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CureVac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mRNA (unmod.)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CV8102 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~$1.5B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AstraZeneca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vector/mAb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Vaxzevria (✓)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Imfinzi +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~$220B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Janssen (disc.)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Rybrevant, others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~$380B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Outlook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3931920"/>
          </a:xfrm>
          <a:prstGeom prst="rect">
            <a:avLst/>
          </a:prstGeom>
          <a:solidFill>
            <a:srgbClr val="1A2355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 vaccine global expansion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 + COVID combo vaccine (mRNA-1083) Phase 3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cancer vaccine Phase 3 readout (mRNA-4157)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931920"/>
          </a:xfrm>
          <a:prstGeom prst="rect">
            <a:avLst/>
          </a:prstGeom>
          <a:solidFill>
            <a:srgbClr val="1A2355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2026–27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CMV vaccine potential approval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vaccine Phase 2 milestones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 (PA) therapy approval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of next-gen LNP platform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931920"/>
          </a:xfrm>
          <a:prstGeom prst="rect">
            <a:avLst/>
          </a:prstGeom>
          <a:solidFill>
            <a:srgbClr val="1A2355"/>
          </a:solidFill>
          <a:ln w="1905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cardiac regeneration therapies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disease programs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AI-designed mRNA sequences at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$8–12B annual revenue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0"/>
            <a:ext cx="2743200" cy="2743200"/>
          </a:xfrm>
          <a:prstGeom prst="ellipse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5720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 validated mRNA as a viable, scalable drug modality — a paradigm shift from traditional protein-based biologics.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57200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mRNA platform's speed and flexibility make it uniquely suited for pandemic preparedness and personalized medicine.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5720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revenues funded a deep clinical pipeline; diversification is now the key strategic imperative for sustained growth.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45720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37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cold-chain logistics, revenue dependency, and public trust remain key barriers to address at scale.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45720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Moderna's oncology pipeline (personalized vaccines) could define the next decade of precision medicine innovation.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Moderna, Inc. (2024). Annual Report 2023. Retrieved from https://investors.modernatx.com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Baden, L. R., et al. (2021). Efficacy and Safety of the mRNA-1273 SARS-CoV-2 Vaccine. New England Journal of Medicine, 384(5), 403–416.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939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Hou, X., et al. (2021). Lipid nanoparticles for mRNA delivery. Nature Reviews Materials, 6, 1078–1094.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94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Pardi, N., et al. (2018). mRNA vaccines — a new era in vaccinology. Nature Reviews Drug Discovery, 17, 261–279.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449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U.S. Food and Drug Administration. (2024). FDA Approves First mRNA Vaccine for RSV. Retrieved from https://www.fda.gov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Moderna Pipeline. (2024). Moderna's mRNA Medicines Pipeline. Retrieved from https://www.modernatx.com/research/product-pipeline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95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Statista. (2024). Moderna's annual revenue 2019–2023. Retrieved from https://www.statista.com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714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CNBC. (2024). Moderna personalized cancer vaccine enters Phase 3 trial. Retrieved from https://www.cnbc.com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73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Biotechnology Internship  ·  Task 2: Case Study Analysis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Microsoft Office PowerPoint</Application>
  <PresentationFormat>On-screen Show (16:9)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Moderna Inc. – Case Study</dc:title>
  <dc:subject>PptxGenJS Presentation</dc:subject>
  <dc:creator>Biotechnology Intern</dc:creator>
  <cp:lastModifiedBy>HP</cp:lastModifiedBy>
  <cp:revision>2</cp:revision>
  <dcterms:created xsi:type="dcterms:W3CDTF">2026-05-02T17:00:59Z</dcterms:created>
  <dcterms:modified xsi:type="dcterms:W3CDTF">2026-05-02T17:17:12Z</dcterms:modified>
</cp:coreProperties>
</file>